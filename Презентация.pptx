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60" r:id="rId6"/>
    <p:sldId id="259" r:id="rId7"/>
    <p:sldId id="268" r:id="rId8"/>
    <p:sldId id="261" r:id="rId9"/>
    <p:sldId id="262" r:id="rId10"/>
    <p:sldId id="263" r:id="rId11"/>
    <p:sldId id="264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8">
          <p15:clr>
            <a:srgbClr val="747775"/>
          </p15:clr>
        </p15:guide>
        <p15:guide id="2" pos="5520">
          <p15:clr>
            <a:srgbClr val="747775"/>
          </p15:clr>
        </p15:guide>
        <p15:guide id="3" pos="203">
          <p15:clr>
            <a:srgbClr val="747775"/>
          </p15:clr>
        </p15:guide>
        <p15:guide id="4" orient="horz" pos="299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F516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5388" autoAdjust="0"/>
  </p:normalViewPr>
  <p:slideViewPr>
    <p:cSldViewPr snapToGrid="0">
      <p:cViewPr>
        <p:scale>
          <a:sx n="66" d="100"/>
          <a:sy n="66" d="100"/>
        </p:scale>
        <p:origin x="1759" y="1022"/>
      </p:cViewPr>
      <p:guideLst>
        <p:guide orient="horz" pos="338"/>
        <p:guide pos="5520"/>
        <p:guide pos="203"/>
        <p:guide orient="horz" pos="29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45c88391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45c88391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45c88391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45c88391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45c883915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45c883915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716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45c883915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45c883915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45c883915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45c883915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45c883915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45c883915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9074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45c883915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45c883915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45c883915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45c883915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45c883915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45c883915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45c883915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45c883915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png"/><Relationship Id="rId5" Type="http://schemas.openxmlformats.org/officeDocument/2006/relationships/image" Target="../media/image7.jp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76881" y="3323498"/>
            <a:ext cx="4169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>
                <a:solidFill>
                  <a:schemeClr val="lt1"/>
                </a:solidFill>
              </a:rPr>
              <a:t>Питчинг проекта</a:t>
            </a:r>
            <a:r>
              <a:rPr lang="en-US" sz="3000" dirty="0">
                <a:solidFill>
                  <a:schemeClr val="lt1"/>
                </a:solidFill>
              </a:rPr>
              <a:t>:</a:t>
            </a:r>
            <a:endParaRPr sz="3000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3к-02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8888" y="3290925"/>
            <a:ext cx="514350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3к-02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6088" y="-721975"/>
            <a:ext cx="4970525" cy="257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Frame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8488" y="2081501"/>
            <a:ext cx="2408722" cy="98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Group 361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193" y="1293738"/>
            <a:ext cx="4847407" cy="944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Group 361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1725" y="383975"/>
            <a:ext cx="1317300" cy="23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Skolkovo Fintech Hub 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86175" y="305063"/>
            <a:ext cx="1603825" cy="3973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1114686" y="2522813"/>
            <a:ext cx="358685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B1F516"/>
                </a:solidFill>
              </a:rPr>
              <a:t>ML </a:t>
            </a:r>
            <a:r>
              <a:rPr lang="en-US" sz="4400" b="1" dirty="0" err="1">
                <a:solidFill>
                  <a:srgbClr val="B1F516"/>
                </a:solidFill>
              </a:rPr>
              <a:t>Challeng</a:t>
            </a:r>
            <a:r>
              <a:rPr lang="en-US" sz="4400" b="1" dirty="0">
                <a:solidFill>
                  <a:srgbClr val="B1F516"/>
                </a:solidFill>
              </a:rPr>
              <a:t>          </a:t>
            </a:r>
          </a:p>
        </p:txBody>
      </p:sp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99AADC78-707D-4A87-8AA9-0CBD6C1D86A3}"/>
              </a:ext>
            </a:extLst>
          </p:cNvPr>
          <p:cNvSpPr txBox="1"/>
          <p:nvPr/>
        </p:nvSpPr>
        <p:spPr>
          <a:xfrm>
            <a:off x="2002969" y="3885816"/>
            <a:ext cx="2028011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u="sng" dirty="0">
                <a:solidFill>
                  <a:srgbClr val="B1F516"/>
                </a:solidFill>
              </a:rPr>
              <a:t>МАФ</a:t>
            </a:r>
            <a:endParaRPr sz="5400" b="1" u="sng" dirty="0">
              <a:solidFill>
                <a:srgbClr val="B1F516"/>
              </a:solidFill>
            </a:endParaRPr>
          </a:p>
        </p:txBody>
      </p:sp>
      <p:pic>
        <p:nvPicPr>
          <p:cNvPr id="3" name="Google Shape;138;p23" title="Стрелка.png">
            <a:extLst>
              <a:ext uri="{FF2B5EF4-FFF2-40B4-BE49-F238E27FC236}">
                <a16:creationId xmlns:a16="http://schemas.microsoft.com/office/drawing/2014/main" id="{E9F1E20E-3123-2F13-5E7E-092EDC494418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71736" y="4137213"/>
            <a:ext cx="730748" cy="512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142;p23" title="2.png">
            <a:extLst>
              <a:ext uri="{FF2B5EF4-FFF2-40B4-BE49-F238E27FC236}">
                <a16:creationId xmlns:a16="http://schemas.microsoft.com/office/drawing/2014/main" id="{654DDB5D-53A3-F371-6210-DB96E9C26AF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773402">
            <a:off x="4464865" y="-390425"/>
            <a:ext cx="5587867" cy="255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66;p14" title="2.png">
            <a:extLst>
              <a:ext uri="{FF2B5EF4-FFF2-40B4-BE49-F238E27FC236}">
                <a16:creationId xmlns:a16="http://schemas.microsoft.com/office/drawing/2014/main" id="{34FD3E63-788F-1737-A2A1-6FBC69561ABE}"/>
              </a:ext>
            </a:extLst>
          </p:cNvPr>
          <p:cNvPicPr preferRelativeResize="0"/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10740000">
            <a:off x="6541839" y="1502027"/>
            <a:ext cx="3761538" cy="1816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66;p14" title="2.png">
            <a:extLst>
              <a:ext uri="{FF2B5EF4-FFF2-40B4-BE49-F238E27FC236}">
                <a16:creationId xmlns:a16="http://schemas.microsoft.com/office/drawing/2014/main" id="{46FD3A7E-8BDF-DE20-17F1-C50F4B993D59}"/>
              </a:ext>
            </a:extLst>
          </p:cNvPr>
          <p:cNvPicPr preferRelativeResize="0"/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10740000" flipV="1">
            <a:off x="-1355887" y="2191198"/>
            <a:ext cx="3761538" cy="1884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66;p14" title="2.png">
            <a:extLst>
              <a:ext uri="{FF2B5EF4-FFF2-40B4-BE49-F238E27FC236}">
                <a16:creationId xmlns:a16="http://schemas.microsoft.com/office/drawing/2014/main" id="{AFEA957E-6943-0C03-EAED-14D385D210D8}"/>
              </a:ext>
            </a:extLst>
          </p:cNvPr>
          <p:cNvPicPr preferRelativeResize="0"/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10740000" flipV="1">
            <a:off x="3891926" y="2560050"/>
            <a:ext cx="3761538" cy="1884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66;p14" title="2.png">
            <a:extLst>
              <a:ext uri="{FF2B5EF4-FFF2-40B4-BE49-F238E27FC236}">
                <a16:creationId xmlns:a16="http://schemas.microsoft.com/office/drawing/2014/main" id="{B234C796-F832-91F2-2CD1-D4358BFA08D8}"/>
              </a:ext>
            </a:extLst>
          </p:cNvPr>
          <p:cNvPicPr preferRelativeResize="0"/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 rot="10740000">
            <a:off x="834720" y="926188"/>
            <a:ext cx="3761538" cy="181677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316300" y="43200"/>
            <a:ext cx="307714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 b="1" u="sng" dirty="0">
                <a:solidFill>
                  <a:srgbClr val="B1F516"/>
                </a:solidFill>
              </a:rPr>
              <a:t>Питчинг проектов</a:t>
            </a:r>
            <a:r>
              <a:rPr lang="en-US" sz="2200" b="1" u="sng" dirty="0">
                <a:solidFill>
                  <a:srgbClr val="B1F516"/>
                </a:solidFill>
              </a:rPr>
              <a:t>:</a:t>
            </a:r>
            <a:endParaRPr sz="2200" b="1" u="sng" dirty="0">
              <a:solidFill>
                <a:srgbClr val="B1F516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16300" y="535800"/>
            <a:ext cx="638168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 dirty="0">
                <a:solidFill>
                  <a:schemeClr val="lt1"/>
                </a:solidFill>
              </a:rPr>
              <a:t>Трек</a:t>
            </a:r>
            <a:r>
              <a:rPr lang="en-US" sz="1600" b="1" dirty="0">
                <a:solidFill>
                  <a:schemeClr val="lt1"/>
                </a:solidFill>
              </a:rPr>
              <a:t> </a:t>
            </a:r>
            <a:r>
              <a:rPr lang="ru-RU" sz="1600" b="1" dirty="0">
                <a:solidFill>
                  <a:schemeClr val="lt1"/>
                </a:solidFill>
              </a:rPr>
              <a:t>№2</a:t>
            </a:r>
            <a:r>
              <a:rPr lang="en-US" sz="1600" b="1" dirty="0">
                <a:solidFill>
                  <a:schemeClr val="lt1"/>
                </a:solidFill>
              </a:rPr>
              <a:t>:  </a:t>
            </a:r>
            <a:r>
              <a:rPr lang="en-US" sz="1600" u="sng" dirty="0">
                <a:solidFill>
                  <a:srgbClr val="B1F516"/>
                </a:solidFill>
              </a:rPr>
              <a:t>AI </a:t>
            </a:r>
            <a:r>
              <a:rPr lang="ru-RU" sz="1600" u="sng" dirty="0">
                <a:solidFill>
                  <a:srgbClr val="B1F516"/>
                </a:solidFill>
              </a:rPr>
              <a:t>генератор </a:t>
            </a:r>
            <a:r>
              <a:rPr lang="ru-RU" sz="1600" u="sng" dirty="0" err="1">
                <a:solidFill>
                  <a:srgbClr val="B1F516"/>
                </a:solidFill>
              </a:rPr>
              <a:t>кастомных</a:t>
            </a:r>
            <a:r>
              <a:rPr lang="ru-RU" sz="1600" u="sng" dirty="0">
                <a:solidFill>
                  <a:srgbClr val="B1F516"/>
                </a:solidFill>
              </a:rPr>
              <a:t> дизайн-макетов</a:t>
            </a:r>
            <a:r>
              <a:rPr lang="en-US" sz="1600" u="sng" dirty="0">
                <a:solidFill>
                  <a:srgbClr val="B1F516"/>
                </a:solidFill>
              </a:rPr>
              <a:t> </a:t>
            </a:r>
            <a:endParaRPr sz="1600" u="sng" dirty="0">
              <a:solidFill>
                <a:srgbClr val="B1F516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76950" y="960844"/>
            <a:ext cx="1163425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 dirty="0">
                <a:solidFill>
                  <a:srgbClr val="B1F516"/>
                </a:solidFill>
              </a:rPr>
              <a:t>МАФ</a:t>
            </a:r>
            <a:r>
              <a:rPr lang="en-US" sz="2800" b="1" dirty="0">
                <a:solidFill>
                  <a:srgbClr val="B1F516"/>
                </a:solidFill>
              </a:rPr>
              <a:t>:</a:t>
            </a:r>
            <a:endParaRPr sz="2800" b="1" dirty="0">
              <a:solidFill>
                <a:srgbClr val="B1F516"/>
              </a:solidFill>
            </a:endParaRPr>
          </a:p>
        </p:txBody>
      </p:sp>
      <p:grpSp>
        <p:nvGrpSpPr>
          <p:cNvPr id="70" name="Google Shape;70;p14"/>
          <p:cNvGrpSpPr/>
          <p:nvPr/>
        </p:nvGrpSpPr>
        <p:grpSpPr>
          <a:xfrm>
            <a:off x="1067625" y="1613165"/>
            <a:ext cx="1931935" cy="3062447"/>
            <a:chOff x="319943" y="1018618"/>
            <a:chExt cx="1547021" cy="2728973"/>
          </a:xfrm>
        </p:grpSpPr>
        <p:pic>
          <p:nvPicPr>
            <p:cNvPr id="71" name="Google Shape;71;p14"/>
            <p:cNvPicPr preferRelativeResize="0"/>
            <p:nvPr/>
          </p:nvPicPr>
          <p:blipFill>
            <a:blip r:embed="rId5"/>
            <a:srcRect l="5261" r="5261"/>
            <a:stretch/>
          </p:blipFill>
          <p:spPr>
            <a:xfrm>
              <a:off x="360000" y="1018618"/>
              <a:ext cx="1506964" cy="187417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72" name="Google Shape;72;p14"/>
            <p:cNvSpPr txBox="1"/>
            <p:nvPr/>
          </p:nvSpPr>
          <p:spPr>
            <a:xfrm>
              <a:off x="319943" y="2963464"/>
              <a:ext cx="1427659" cy="5484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b="1" dirty="0">
                  <a:solidFill>
                    <a:srgbClr val="B1F516"/>
                  </a:solidFill>
                  <a:latin typeface="Manrope"/>
                  <a:ea typeface="Manrope"/>
                  <a:cs typeface="Manrope"/>
                  <a:sym typeface="Manrope"/>
                </a:rPr>
                <a:t>Артём</a:t>
              </a:r>
              <a:br>
                <a:rPr lang="ru-RU" b="1" dirty="0">
                  <a:solidFill>
                    <a:srgbClr val="B1F516"/>
                  </a:solidFill>
                  <a:latin typeface="Manrope"/>
                  <a:ea typeface="Manrope"/>
                  <a:cs typeface="Manrope"/>
                  <a:sym typeface="Manrope"/>
                </a:rPr>
              </a:br>
              <a:r>
                <a:rPr lang="ru-RU" b="1" dirty="0" err="1">
                  <a:solidFill>
                    <a:srgbClr val="B1F516"/>
                  </a:solidFill>
                  <a:latin typeface="Manrope"/>
                  <a:ea typeface="Manrope"/>
                  <a:cs typeface="Manrope"/>
                  <a:sym typeface="Manrope"/>
                </a:rPr>
                <a:t>Балахадзе</a:t>
              </a:r>
              <a:endParaRPr b="1" dirty="0">
                <a:solidFill>
                  <a:srgbClr val="B1F51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373801" y="3439073"/>
              <a:ext cx="1493125" cy="308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u="sng" dirty="0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FULL-STACK  DEVELOPER</a:t>
              </a:r>
              <a:endParaRPr sz="1000" b="1" u="sng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78" name="Google Shape;78;p14"/>
          <p:cNvGrpSpPr/>
          <p:nvPr/>
        </p:nvGrpSpPr>
        <p:grpSpPr>
          <a:xfrm>
            <a:off x="6148920" y="1608213"/>
            <a:ext cx="2009212" cy="3060616"/>
            <a:chOff x="228910" y="1018618"/>
            <a:chExt cx="1608900" cy="2727342"/>
          </a:xfrm>
        </p:grpSpPr>
        <p:pic>
          <p:nvPicPr>
            <p:cNvPr id="79" name="Google Shape;79;p14"/>
            <p:cNvPicPr preferRelativeResize="0"/>
            <p:nvPr/>
          </p:nvPicPr>
          <p:blipFill>
            <a:blip r:embed="rId6"/>
            <a:srcRect t="4855" b="4855"/>
            <a:stretch/>
          </p:blipFill>
          <p:spPr>
            <a:xfrm>
              <a:off x="228910" y="1018618"/>
              <a:ext cx="1506964" cy="187417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80" name="Google Shape;80;p14"/>
            <p:cNvSpPr txBox="1"/>
            <p:nvPr/>
          </p:nvSpPr>
          <p:spPr>
            <a:xfrm>
              <a:off x="360000" y="2963465"/>
              <a:ext cx="1375800" cy="5484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b="1" dirty="0">
                  <a:solidFill>
                    <a:srgbClr val="B1F516"/>
                  </a:solidFill>
                  <a:latin typeface="Manrope"/>
                  <a:ea typeface="Manrope"/>
                  <a:cs typeface="Manrope"/>
                  <a:sym typeface="Manrope"/>
                </a:rPr>
                <a:t>Руслан</a:t>
              </a:r>
              <a:br>
                <a:rPr lang="ru-RU" b="1" dirty="0">
                  <a:solidFill>
                    <a:srgbClr val="B1F516"/>
                  </a:solidFill>
                  <a:latin typeface="Manrope"/>
                  <a:ea typeface="Manrope"/>
                  <a:cs typeface="Manrope"/>
                  <a:sym typeface="Manrope"/>
                </a:rPr>
              </a:br>
              <a:r>
                <a:rPr lang="ru-RU" b="1" dirty="0">
                  <a:solidFill>
                    <a:srgbClr val="B1F516"/>
                  </a:solidFill>
                  <a:latin typeface="Manrope"/>
                  <a:ea typeface="Manrope"/>
                  <a:cs typeface="Manrope"/>
                  <a:sym typeface="Manrope"/>
                </a:rPr>
                <a:t>Хакимов</a:t>
              </a:r>
              <a:endParaRPr b="1" dirty="0">
                <a:solidFill>
                  <a:srgbClr val="B1F51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462010" y="3444298"/>
              <a:ext cx="1375800" cy="301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u="sng" dirty="0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BACK-END DEVELOPER</a:t>
              </a:r>
              <a:endParaRPr sz="1000" b="1" u="sng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82" name="Google Shape;82;p14"/>
          <p:cNvGrpSpPr/>
          <p:nvPr/>
        </p:nvGrpSpPr>
        <p:grpSpPr>
          <a:xfrm>
            <a:off x="3708510" y="1608213"/>
            <a:ext cx="1886299" cy="3067399"/>
            <a:chOff x="356488" y="1018617"/>
            <a:chExt cx="1510476" cy="2733387"/>
          </a:xfrm>
        </p:grpSpPr>
        <p:pic>
          <p:nvPicPr>
            <p:cNvPr id="83" name="Google Shape;83;p14"/>
            <p:cNvPicPr preferRelativeResize="0"/>
            <p:nvPr/>
          </p:nvPicPr>
          <p:blipFill>
            <a:blip r:embed="rId7"/>
            <a:srcRect l="12470" r="12470"/>
            <a:stretch/>
          </p:blipFill>
          <p:spPr>
            <a:xfrm>
              <a:off x="360000" y="1018617"/>
              <a:ext cx="1506964" cy="1874176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84" name="Google Shape;84;p14"/>
            <p:cNvSpPr txBox="1"/>
            <p:nvPr/>
          </p:nvSpPr>
          <p:spPr>
            <a:xfrm>
              <a:off x="360000" y="2953736"/>
              <a:ext cx="1375800" cy="5484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b="1" dirty="0">
                  <a:solidFill>
                    <a:srgbClr val="B1F516"/>
                  </a:solidFill>
                  <a:latin typeface="Manrope"/>
                  <a:ea typeface="Manrope"/>
                  <a:cs typeface="Manrope"/>
                  <a:sym typeface="Manrope"/>
                </a:rPr>
                <a:t>Павел</a:t>
              </a:r>
              <a:br>
                <a:rPr lang="ru-RU" b="1" dirty="0">
                  <a:solidFill>
                    <a:srgbClr val="B1F516"/>
                  </a:solidFill>
                  <a:latin typeface="Manrope"/>
                  <a:ea typeface="Manrope"/>
                  <a:cs typeface="Manrope"/>
                  <a:sym typeface="Manrope"/>
                </a:rPr>
              </a:br>
              <a:r>
                <a:rPr lang="ru-RU" b="1" dirty="0">
                  <a:solidFill>
                    <a:srgbClr val="B1F516"/>
                  </a:solidFill>
                  <a:latin typeface="Manrope"/>
                  <a:ea typeface="Manrope"/>
                  <a:cs typeface="Manrope"/>
                  <a:sym typeface="Manrope"/>
                </a:rPr>
                <a:t>Назаренко</a:t>
              </a:r>
              <a:endParaRPr b="1" dirty="0">
                <a:solidFill>
                  <a:srgbClr val="B1F51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85" name="Google Shape;85;p14"/>
            <p:cNvSpPr txBox="1"/>
            <p:nvPr/>
          </p:nvSpPr>
          <p:spPr>
            <a:xfrm>
              <a:off x="356488" y="3450342"/>
              <a:ext cx="1493124" cy="301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u="sng" dirty="0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ML DEVELOPER, DESIGNER</a:t>
              </a:r>
              <a:endParaRPr sz="1000" b="1" u="sng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397580" y="219970"/>
            <a:ext cx="23241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/>
              <a:t>🛑</a:t>
            </a:r>
            <a:r>
              <a:rPr lang="en-US" sz="2200" dirty="0"/>
              <a:t> </a:t>
            </a:r>
            <a:r>
              <a:rPr lang="ru" sz="2200" b="1" u="sng" dirty="0">
                <a:solidFill>
                  <a:srgbClr val="B1F516"/>
                </a:solidFill>
              </a:rPr>
              <a:t>Проблема</a:t>
            </a:r>
            <a:r>
              <a:rPr lang="en-US" sz="2200" b="1" dirty="0">
                <a:solidFill>
                  <a:srgbClr val="B1F516"/>
                </a:solidFill>
              </a:rPr>
              <a:t>:</a:t>
            </a:r>
            <a:endParaRPr sz="2200" b="1" dirty="0">
              <a:solidFill>
                <a:srgbClr val="B1F516"/>
              </a:solidFill>
            </a:endParaRPr>
          </a:p>
        </p:txBody>
      </p:sp>
      <p:pic>
        <p:nvPicPr>
          <p:cNvPr id="10" name="Google Shape;138;p23" title="Стрелка.png">
            <a:extLst>
              <a:ext uri="{FF2B5EF4-FFF2-40B4-BE49-F238E27FC236}">
                <a16:creationId xmlns:a16="http://schemas.microsoft.com/office/drawing/2014/main" id="{3824B0F4-3BE5-DA72-7311-9DFA838BDB8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955" y="1218797"/>
            <a:ext cx="424995" cy="353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38;p23" title="Стрелка.png">
            <a:extLst>
              <a:ext uri="{FF2B5EF4-FFF2-40B4-BE49-F238E27FC236}">
                <a16:creationId xmlns:a16="http://schemas.microsoft.com/office/drawing/2014/main" id="{1494A3A5-F560-958E-671A-938DF0A0F0A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954" y="2246250"/>
            <a:ext cx="424995" cy="353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38;p23" title="Стрелка.png">
            <a:extLst>
              <a:ext uri="{FF2B5EF4-FFF2-40B4-BE49-F238E27FC236}">
                <a16:creationId xmlns:a16="http://schemas.microsoft.com/office/drawing/2014/main" id="{AC0144D5-D031-0A4F-D297-2E35776A8FB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953" y="3106205"/>
            <a:ext cx="424995" cy="353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8;p23" title="Стрелка.png">
            <a:extLst>
              <a:ext uri="{FF2B5EF4-FFF2-40B4-BE49-F238E27FC236}">
                <a16:creationId xmlns:a16="http://schemas.microsoft.com/office/drawing/2014/main" id="{BC95015D-A638-15D2-D960-F6D29BE0B62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953" y="4030229"/>
            <a:ext cx="424995" cy="3535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896FE2-1AD8-2AD5-8782-112CF2074CE0}"/>
              </a:ext>
            </a:extLst>
          </p:cNvPr>
          <p:cNvSpPr txBox="1"/>
          <p:nvPr/>
        </p:nvSpPr>
        <p:spPr>
          <a:xfrm>
            <a:off x="1155700" y="978287"/>
            <a:ext cx="7988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B1F516"/>
                </a:solidFill>
              </a:rPr>
              <a:t>Недоступность исходного кода: 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</a:rPr>
              <a:t>веб-приложения часто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</a:rPr>
              <a:t>минифицированы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</a:rPr>
              <a:t>, собраны в бандлы или скомпилированы в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</a:rPr>
              <a:t>WebAssembly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ru-RU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E0D4EB-8EF2-DB2C-B5C0-9F0712ECAB53}"/>
              </a:ext>
            </a:extLst>
          </p:cNvPr>
          <p:cNvSpPr txBox="1"/>
          <p:nvPr/>
        </p:nvSpPr>
        <p:spPr>
          <a:xfrm>
            <a:off x="1155700" y="2112246"/>
            <a:ext cx="7886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B1F516"/>
                </a:solidFill>
              </a:rPr>
              <a:t>Ручная правка UI сложна: 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</a:rPr>
              <a:t>требует анализа DOM, поиска CSS/JS-зависимостей и глубокого погружения в проект.</a:t>
            </a:r>
            <a:endParaRPr lang="ru-RU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32B2B4-BC57-7261-4706-E81E7385F9BD}"/>
              </a:ext>
            </a:extLst>
          </p:cNvPr>
          <p:cNvSpPr txBox="1"/>
          <p:nvPr/>
        </p:nvSpPr>
        <p:spPr>
          <a:xfrm>
            <a:off x="1155700" y="2964501"/>
            <a:ext cx="7439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B1F516"/>
                </a:solidFill>
              </a:rPr>
              <a:t>Нет редактирования «по смыслу»: 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</a:rPr>
              <a:t>дизайнеры и продакты не могут изменять интерфейс без участия разработчиков.</a:t>
            </a:r>
            <a:endParaRPr lang="ru-RU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80B96B-6A96-3ED1-DE60-B4D51F76D665}"/>
              </a:ext>
            </a:extLst>
          </p:cNvPr>
          <p:cNvSpPr txBox="1"/>
          <p:nvPr/>
        </p:nvSpPr>
        <p:spPr>
          <a:xfrm>
            <a:off x="1155700" y="3900401"/>
            <a:ext cx="79038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1800" b="1" dirty="0">
                <a:solidFill>
                  <a:srgbClr val="B1F516"/>
                </a:solidFill>
              </a:rPr>
              <a:t>Нет комплексного решения: 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</a:rPr>
              <a:t>парсинг и изменения макетов приходится собирать вручную из разных инструментов, с доп. материальными затратами.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" name="Google Shape;141;p23" title="5.png">
            <a:extLst>
              <a:ext uri="{FF2B5EF4-FFF2-40B4-BE49-F238E27FC236}">
                <a16:creationId xmlns:a16="http://schemas.microsoft.com/office/drawing/2014/main" id="{C2DBF868-6530-8DAC-6581-9D3195B37BB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43167" y="2344292"/>
            <a:ext cx="1245722" cy="161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316300" y="43200"/>
            <a:ext cx="3951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</a:pPr>
            <a:r>
              <a:rPr lang="ru-RU" sz="2200" dirty="0"/>
              <a:t>🔍</a:t>
            </a:r>
            <a:r>
              <a:rPr lang="en-US" sz="2200" dirty="0"/>
              <a:t> </a:t>
            </a:r>
            <a:r>
              <a:rPr lang="ru-RU" sz="2200" b="1" i="0" u="sng" dirty="0">
                <a:solidFill>
                  <a:srgbClr val="B1F51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Обзор и анализ</a:t>
            </a:r>
            <a:r>
              <a:rPr lang="en-US" sz="2200" b="1" i="0" dirty="0">
                <a:solidFill>
                  <a:srgbClr val="B1F51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2200" b="1" i="0" u="sng" dirty="0">
                <a:solidFill>
                  <a:srgbClr val="B1F51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2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C93404-7213-7997-2C7C-5647EE2FF1CE}"/>
              </a:ext>
            </a:extLst>
          </p:cNvPr>
          <p:cNvSpPr txBox="1"/>
          <p:nvPr/>
        </p:nvSpPr>
        <p:spPr>
          <a:xfrm>
            <a:off x="614679" y="587663"/>
            <a:ext cx="775208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Ограничения текущих решений</a:t>
            </a:r>
            <a:r>
              <a:rPr lang="en-US" altLang="ru-RU" sz="1800" b="1" dirty="0">
                <a:solidFill>
                  <a:srgbClr val="B1F516"/>
                </a:solidFill>
                <a:latin typeface="Arial" panose="020B0604020202020204" pitchFamily="34" charset="0"/>
              </a:rPr>
              <a:t>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B1F516"/>
              </a:solidFill>
              <a:effectLst/>
              <a:latin typeface="Arial" panose="020B0604020202020204" pitchFamily="34" charset="0"/>
            </a:endParaRPr>
          </a:p>
          <a:p>
            <a:pPr lvl="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C3964-B426-A25B-7B37-9373895986D8}"/>
              </a:ext>
            </a:extLst>
          </p:cNvPr>
          <p:cNvSpPr txBox="1"/>
          <p:nvPr/>
        </p:nvSpPr>
        <p:spPr>
          <a:xfrm>
            <a:off x="614679" y="3075952"/>
            <a:ext cx="8143241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Технологический пробел</a:t>
            </a:r>
            <a:r>
              <a:rPr kumimoji="0" lang="en-US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:</a:t>
            </a:r>
            <a:endParaRPr lang="en-US" altLang="ru-RU" sz="1800" dirty="0">
              <a:solidFill>
                <a:srgbClr val="B1F516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  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D8BAB9-0E4F-C6D3-CC74-FA68FB91ABF0}"/>
              </a:ext>
            </a:extLst>
          </p:cNvPr>
          <p:cNvSpPr txBox="1"/>
          <p:nvPr/>
        </p:nvSpPr>
        <p:spPr>
          <a:xfrm>
            <a:off x="919480" y="1195514"/>
            <a:ext cx="5836920" cy="677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8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VSCode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-плагины работают только с открытым HTML/CSS</a:t>
            </a:r>
          </a:p>
          <a:p>
            <a:pPr lvl="3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Copilot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не учитывает UI-структуру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82FB9F-4C4A-EB50-4029-4AA2FC1BC05A}"/>
              </a:ext>
            </a:extLst>
          </p:cNvPr>
          <p:cNvSpPr txBox="1"/>
          <p:nvPr/>
        </p:nvSpPr>
        <p:spPr>
          <a:xfrm>
            <a:off x="920657" y="3583807"/>
            <a:ext cx="5735320" cy="677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Большинство решений не работают с клиентским рендерингом (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Vue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, Next.js)</a:t>
            </a:r>
          </a:p>
        </p:txBody>
      </p:sp>
      <p:pic>
        <p:nvPicPr>
          <p:cNvPr id="10" name="Google Shape;138;p23" title="Стрелка.png">
            <a:extLst>
              <a:ext uri="{FF2B5EF4-FFF2-40B4-BE49-F238E27FC236}">
                <a16:creationId xmlns:a16="http://schemas.microsoft.com/office/drawing/2014/main" id="{CA03525E-317C-EC1B-66AE-F91301F6597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718" y="1440769"/>
            <a:ext cx="270722" cy="225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38;p23" title="Стрелка.png">
            <a:extLst>
              <a:ext uri="{FF2B5EF4-FFF2-40B4-BE49-F238E27FC236}">
                <a16:creationId xmlns:a16="http://schemas.microsoft.com/office/drawing/2014/main" id="{4F83B3E5-818E-3E7A-D963-DE28E8C9B74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639" y="2126073"/>
            <a:ext cx="270722" cy="225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38;p23" title="Стрелка.png">
            <a:extLst>
              <a:ext uri="{FF2B5EF4-FFF2-40B4-BE49-F238E27FC236}">
                <a16:creationId xmlns:a16="http://schemas.microsoft.com/office/drawing/2014/main" id="{AEE9A5F7-F7D1-9418-999C-08BAB14C61B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718" y="3810016"/>
            <a:ext cx="270722" cy="225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7;p23" title="3к-02 2.png">
            <a:extLst>
              <a:ext uri="{FF2B5EF4-FFF2-40B4-BE49-F238E27FC236}">
                <a16:creationId xmlns:a16="http://schemas.microsoft.com/office/drawing/2014/main" id="{68E5B137-4707-6DCD-11FE-9668404A9CA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6659" y="3698170"/>
            <a:ext cx="2398225" cy="1483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41;p23" title="5.png">
            <a:extLst>
              <a:ext uri="{FF2B5EF4-FFF2-40B4-BE49-F238E27FC236}">
                <a16:creationId xmlns:a16="http://schemas.microsoft.com/office/drawing/2014/main" id="{75C6B282-DFD5-33AA-706A-3556C93DA1F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1340502">
            <a:off x="6953827" y="765246"/>
            <a:ext cx="1815233" cy="29468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DDB395-F286-C877-181E-FAD19675525D}"/>
              </a:ext>
            </a:extLst>
          </p:cNvPr>
          <p:cNvSpPr txBox="1"/>
          <p:nvPr/>
        </p:nvSpPr>
        <p:spPr>
          <a:xfrm>
            <a:off x="919479" y="1914711"/>
            <a:ext cx="5964897" cy="677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Нет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LLM</a:t>
            </a:r>
            <a:r>
              <a:rPr lang="ru-RU" altLang="ru-RU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с возможностью обрабатывать большой контекст и реактивно валидировать изменения.</a:t>
            </a:r>
          </a:p>
        </p:txBody>
      </p:sp>
    </p:spTree>
    <p:extLst>
      <p:ext uri="{BB962C8B-B14F-4D97-AF65-F5344CB8AC3E}">
        <p14:creationId xmlns:p14="http://schemas.microsoft.com/office/powerpoint/2010/main" val="2014156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316300" y="107933"/>
            <a:ext cx="42557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2400" dirty="0"/>
              <a:t>🟢 </a:t>
            </a:r>
            <a:r>
              <a:rPr kumimoji="0" lang="ru-RU" altLang="ru-RU" sz="2400" b="1" i="0" u="sng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Что необходимо</a:t>
            </a:r>
            <a:r>
              <a:rPr lang="ru-RU" altLang="ru-RU" sz="2400" b="1" u="sng" dirty="0">
                <a:solidFill>
                  <a:srgbClr val="B1F516"/>
                </a:solidFill>
                <a:latin typeface="Arial" panose="020B0604020202020204" pitchFamily="34" charset="0"/>
              </a:rPr>
              <a:t>?</a:t>
            </a:r>
            <a:endParaRPr kumimoji="0" lang="ru-RU" altLang="ru-RU" sz="2400" b="1" i="0" u="sng" strike="noStrike" cap="none" normalizeH="0" baseline="0" dirty="0">
              <a:ln>
                <a:noFill/>
              </a:ln>
              <a:solidFill>
                <a:srgbClr val="B1F51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EA10AD-5FB2-45C6-2B02-ED27A46F4354}"/>
              </a:ext>
            </a:extLst>
          </p:cNvPr>
          <p:cNvSpPr txBox="1"/>
          <p:nvPr/>
        </p:nvSpPr>
        <p:spPr>
          <a:xfrm>
            <a:off x="752813" y="887137"/>
            <a:ext cx="32751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Комплексная система с: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54F5F-AAFA-CBED-26C9-948602E98DE0}"/>
              </a:ext>
            </a:extLst>
          </p:cNvPr>
          <p:cNvSpPr txBox="1"/>
          <p:nvPr/>
        </p:nvSpPr>
        <p:spPr>
          <a:xfrm>
            <a:off x="1285531" y="1297709"/>
            <a:ext cx="7307140" cy="28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altLang="ru-RU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Получением и сохранинием исходного кода сайта</a:t>
            </a:r>
            <a:br>
              <a:rPr kumimoji="0" lang="ru-RU" altLang="ru-RU" sz="2000" i="0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i="0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*Валидацей полученного кода на полноту</a:t>
            </a:r>
            <a:br>
              <a:rPr kumimoji="0" lang="ru-RU" altLang="ru-RU" sz="2000" i="0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i="0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Интерактивным выбором элементов</a:t>
            </a:r>
            <a:br>
              <a:rPr kumimoji="0" lang="ru-RU" altLang="ru-RU" sz="2000" i="0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i="0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Генерацией изменений, на основе промпта</a:t>
            </a:r>
            <a:br>
              <a:rPr kumimoji="0" lang="ru-RU" altLang="ru-RU" sz="2000" i="0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i="0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Повторной валидацией и реактивным отображением изменений.</a:t>
            </a:r>
            <a:endParaRPr lang="ru-RU" sz="2000" dirty="0"/>
          </a:p>
        </p:txBody>
      </p:sp>
      <p:pic>
        <p:nvPicPr>
          <p:cNvPr id="9" name="Google Shape;139;p23" title="Галочка.png">
            <a:extLst>
              <a:ext uri="{FF2B5EF4-FFF2-40B4-BE49-F238E27FC236}">
                <a16:creationId xmlns:a16="http://schemas.microsoft.com/office/drawing/2014/main" id="{20382355-7E8D-AC6E-FEE7-01ED4FAF977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672" y="1475818"/>
            <a:ext cx="348482" cy="257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39;p23" title="Галочка.png">
            <a:extLst>
              <a:ext uri="{FF2B5EF4-FFF2-40B4-BE49-F238E27FC236}">
                <a16:creationId xmlns:a16="http://schemas.microsoft.com/office/drawing/2014/main" id="{7C57E8F1-5689-D068-F500-444AD71A32F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672" y="1955749"/>
            <a:ext cx="348482" cy="257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39;p23" title="Галочка.png">
            <a:extLst>
              <a:ext uri="{FF2B5EF4-FFF2-40B4-BE49-F238E27FC236}">
                <a16:creationId xmlns:a16="http://schemas.microsoft.com/office/drawing/2014/main" id="{56FC1093-C659-4301-8E1C-E8529F67BA4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672" y="2387264"/>
            <a:ext cx="348482" cy="257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39;p23" title="Галочка.png">
            <a:extLst>
              <a:ext uri="{FF2B5EF4-FFF2-40B4-BE49-F238E27FC236}">
                <a16:creationId xmlns:a16="http://schemas.microsoft.com/office/drawing/2014/main" id="{4A9B68BF-607B-4F20-ED1D-E336467C0F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672" y="2867195"/>
            <a:ext cx="348482" cy="257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40;p23" title="8.png">
            <a:extLst>
              <a:ext uri="{FF2B5EF4-FFF2-40B4-BE49-F238E27FC236}">
                <a16:creationId xmlns:a16="http://schemas.microsoft.com/office/drawing/2014/main" id="{02B7E6B3-1407-9D1F-1005-CCCF5615F9D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0319628">
            <a:off x="-1693355" y="3273300"/>
            <a:ext cx="11442689" cy="3115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39;p23" title="Галочка.png">
            <a:extLst>
              <a:ext uri="{FF2B5EF4-FFF2-40B4-BE49-F238E27FC236}">
                <a16:creationId xmlns:a16="http://schemas.microsoft.com/office/drawing/2014/main" id="{00DC3C02-2221-40F8-BF5D-DE76D854701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672" y="3475407"/>
            <a:ext cx="348482" cy="25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/>
        </p:nvSpPr>
        <p:spPr>
          <a:xfrm>
            <a:off x="316299" y="43200"/>
            <a:ext cx="5190421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200" dirty="0"/>
              <a:t>🧪 </a:t>
            </a:r>
            <a:r>
              <a:rPr lang="ru-RU" sz="2400" b="1" i="0" u="sng" dirty="0">
                <a:solidFill>
                  <a:srgbClr val="B1F51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Апробированные подходы</a:t>
            </a:r>
            <a:r>
              <a:rPr lang="en-US" sz="2400" b="1" i="0" dirty="0">
                <a:solidFill>
                  <a:srgbClr val="B1F51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3200" b="1" dirty="0"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u="sng" dirty="0">
              <a:solidFill>
                <a:srgbClr val="B1F51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A59B8-5F88-4826-DAF5-5A3458B47D95}"/>
              </a:ext>
            </a:extLst>
          </p:cNvPr>
          <p:cNvSpPr txBox="1"/>
          <p:nvPr/>
        </p:nvSpPr>
        <p:spPr>
          <a:xfrm>
            <a:off x="807296" y="760624"/>
            <a:ext cx="8345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Парсинг DOM через Playwright: 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загрузка исхного кода сайта путем эмуляциии пользователя через </a:t>
            </a:r>
            <a:r>
              <a:rPr kumimoji="0" lang="en-US" altLang="ru-RU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headless chromium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7AFDD-6FF0-1A5A-30D7-05A12CE87104}"/>
              </a:ext>
            </a:extLst>
          </p:cNvPr>
          <p:cNvSpPr txBox="1"/>
          <p:nvPr/>
        </p:nvSpPr>
        <p:spPr>
          <a:xfrm>
            <a:off x="807296" y="1581265"/>
            <a:ext cx="81762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Получение полной структуры: 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обход анти-бот защит и оптимизации сайтов (</a:t>
            </a:r>
            <a:r>
              <a:rPr kumimoji="0" lang="en-US" altLang="ru-RU" sz="18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Lazy-Load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839C68-2BA2-B832-C978-2C22857E988E}"/>
              </a:ext>
            </a:extLst>
          </p:cNvPr>
          <p:cNvSpPr txBox="1"/>
          <p:nvPr/>
        </p:nvSpPr>
        <p:spPr>
          <a:xfrm>
            <a:off x="799676" y="2323192"/>
            <a:ext cx="81762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1800" b="1" dirty="0">
                <a:solidFill>
                  <a:srgbClr val="B1F516"/>
                </a:solidFill>
              </a:rPr>
              <a:t>Интеграция LLM: 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</a:rPr>
              <a:t>передаём контекст </a:t>
            </a:r>
            <a:r>
              <a:rPr lang="ru-RU" sz="1800" i="1" dirty="0">
                <a:solidFill>
                  <a:schemeClr val="bg1">
                    <a:lumMod val="95000"/>
                  </a:schemeClr>
                </a:solidFill>
              </a:rPr>
              <a:t>(парсер) 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</a:rPr>
              <a:t>(HTML, CSS, *JS) и получаем изменения.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C29BF-C6FE-B62D-2BEF-A56B753B2CA7}"/>
              </a:ext>
            </a:extLst>
          </p:cNvPr>
          <p:cNvSpPr txBox="1"/>
          <p:nvPr/>
        </p:nvSpPr>
        <p:spPr>
          <a:xfrm>
            <a:off x="807296" y="2969523"/>
            <a:ext cx="8168640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Режимы работы</a:t>
            </a:r>
            <a:r>
              <a:rPr kumimoji="0" lang="en-US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lang="ru-RU" altLang="ru-RU" sz="1800" b="1" dirty="0">
                <a:solidFill>
                  <a:srgbClr val="B1F516"/>
                </a:solidFill>
                <a:latin typeface="Arial" panose="020B0604020202020204" pitchFamily="34" charset="0"/>
              </a:rPr>
              <a:t>грузчика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 с </a:t>
            </a:r>
            <a:r>
              <a:rPr kumimoji="0" lang="en-US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SPA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SSR/ISR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Для самописных сайтов или конструкторов;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Частичные оптимизации для SSR;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Полная оптимизация для </a:t>
            </a:r>
            <a:r>
              <a:rPr kumimoji="0" lang="en-US" altLang="ru-RU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SPA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ru-RU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SSR/ISR</a:t>
            </a:r>
            <a:endParaRPr kumimoji="0" lang="ru-RU" altLang="ru-RU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Google Shape;138;p23" title="Стрелка.png">
            <a:extLst>
              <a:ext uri="{FF2B5EF4-FFF2-40B4-BE49-F238E27FC236}">
                <a16:creationId xmlns:a16="http://schemas.microsoft.com/office/drawing/2014/main" id="{76BD9BEF-8F93-8933-AA8C-A41AFEC8784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0441" y="3542289"/>
            <a:ext cx="270722" cy="225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38;p23" title="Стрелка.png">
            <a:extLst>
              <a:ext uri="{FF2B5EF4-FFF2-40B4-BE49-F238E27FC236}">
                <a16:creationId xmlns:a16="http://schemas.microsoft.com/office/drawing/2014/main" id="{037BDAE9-F9FD-AA82-FAA1-03E121B7FA9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0441" y="3973303"/>
            <a:ext cx="270722" cy="225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38;p23" title="Стрелка.png">
            <a:extLst>
              <a:ext uri="{FF2B5EF4-FFF2-40B4-BE49-F238E27FC236}">
                <a16:creationId xmlns:a16="http://schemas.microsoft.com/office/drawing/2014/main" id="{FC6E2408-D665-85A1-76BA-36B81341A9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9102" y="4364648"/>
            <a:ext cx="270722" cy="225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39;p23" title="Галочка.png">
            <a:extLst>
              <a:ext uri="{FF2B5EF4-FFF2-40B4-BE49-F238E27FC236}">
                <a16:creationId xmlns:a16="http://schemas.microsoft.com/office/drawing/2014/main" id="{9B98CDE1-BE8D-5B84-BCB2-7DD186EDCDF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437" y="971159"/>
            <a:ext cx="270722" cy="200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9;p23" title="Галочка.png">
            <a:extLst>
              <a:ext uri="{FF2B5EF4-FFF2-40B4-BE49-F238E27FC236}">
                <a16:creationId xmlns:a16="http://schemas.microsoft.com/office/drawing/2014/main" id="{0B2731F7-7BCC-27B2-DDA8-1C97E77A1B6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437" y="1804340"/>
            <a:ext cx="270722" cy="200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39;p23" title="Галочка.png">
            <a:extLst>
              <a:ext uri="{FF2B5EF4-FFF2-40B4-BE49-F238E27FC236}">
                <a16:creationId xmlns:a16="http://schemas.microsoft.com/office/drawing/2014/main" id="{DFEEDCD6-42B6-67BD-4158-F4203E7D5B0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437" y="2537431"/>
            <a:ext cx="270722" cy="200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39;p23" title="Галочка.png">
            <a:extLst>
              <a:ext uri="{FF2B5EF4-FFF2-40B4-BE49-F238E27FC236}">
                <a16:creationId xmlns:a16="http://schemas.microsoft.com/office/drawing/2014/main" id="{57A0B9CC-ACE4-6F8B-2348-9549F151FFC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437" y="3170432"/>
            <a:ext cx="270722" cy="200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41;p23" title="5.png">
            <a:extLst>
              <a:ext uri="{FF2B5EF4-FFF2-40B4-BE49-F238E27FC236}">
                <a16:creationId xmlns:a16="http://schemas.microsoft.com/office/drawing/2014/main" id="{EE0E9E8E-6FC7-F3F8-F523-08ABCC790D8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6908980">
            <a:off x="6393960" y="1738651"/>
            <a:ext cx="2461363" cy="3995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/>
        </p:nvSpPr>
        <p:spPr>
          <a:xfrm>
            <a:off x="316299" y="43200"/>
            <a:ext cx="5190421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400" dirty="0"/>
              <a:t>🕸️</a:t>
            </a:r>
            <a:r>
              <a:rPr lang="ru-RU" sz="2200" dirty="0"/>
              <a:t> </a:t>
            </a:r>
            <a:r>
              <a:rPr lang="ru-RU" sz="2400" b="1" u="sng" dirty="0">
                <a:solidFill>
                  <a:srgbClr val="B1F5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Схема</a:t>
            </a:r>
            <a:r>
              <a:rPr lang="en-US" sz="2400" b="1" u="sng" dirty="0">
                <a:solidFill>
                  <a:srgbClr val="B1F5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u="sng" dirty="0">
                <a:solidFill>
                  <a:srgbClr val="B1F5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работы проекта</a:t>
            </a:r>
            <a:r>
              <a:rPr lang="en-US" sz="2400" b="1" i="0" dirty="0">
                <a:solidFill>
                  <a:srgbClr val="B1F51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3200" b="1" dirty="0"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u="sng" dirty="0">
              <a:solidFill>
                <a:srgbClr val="B1F516"/>
              </a:solidFill>
            </a:endParaRPr>
          </a:p>
        </p:txBody>
      </p:sp>
      <p:pic>
        <p:nvPicPr>
          <p:cNvPr id="23" name="Google Shape;141;p23" title="5.png">
            <a:extLst>
              <a:ext uri="{FF2B5EF4-FFF2-40B4-BE49-F238E27FC236}">
                <a16:creationId xmlns:a16="http://schemas.microsoft.com/office/drawing/2014/main" id="{EE0E9E8E-6FC7-F3F8-F523-08ABCC790D8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0954959">
            <a:off x="7597019" y="1030468"/>
            <a:ext cx="2461363" cy="3995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Схема Преза 2">
            <a:hlinkClick r:id="" action="ppaction://media"/>
            <a:extLst>
              <a:ext uri="{FF2B5EF4-FFF2-40B4-BE49-F238E27FC236}">
                <a16:creationId xmlns:a16="http://schemas.microsoft.com/office/drawing/2014/main" id="{7F31E966-BB49-415A-8208-21E1126D71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53672" y="761154"/>
            <a:ext cx="6937397" cy="39022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3655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6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188978" y="124222"/>
            <a:ext cx="6096076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dirty="0">
                <a:latin typeface="+mj-lt"/>
              </a:rPr>
              <a:t>🧩</a:t>
            </a:r>
            <a:r>
              <a:rPr lang="en-US" sz="2400" dirty="0">
                <a:latin typeface="+mj-lt"/>
              </a:rPr>
              <a:t> </a:t>
            </a:r>
            <a:r>
              <a:rPr lang="ru-RU" sz="2400" b="1" u="sng" dirty="0">
                <a:solidFill>
                  <a:srgbClr val="B1F516"/>
                </a:solidFill>
                <a:latin typeface="+mj-lt"/>
              </a:rPr>
              <a:t>Импорт и анализ проекта</a:t>
            </a:r>
            <a:r>
              <a:rPr lang="en-US" sz="2400" dirty="0">
                <a:solidFill>
                  <a:srgbClr val="B1F516"/>
                </a:solidFill>
                <a:latin typeface="+mj-lt"/>
              </a:rPr>
              <a:t>:</a:t>
            </a:r>
            <a:endParaRPr sz="2400" b="1" dirty="0">
              <a:solidFill>
                <a:srgbClr val="B1F516"/>
              </a:solidFill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62826A-5193-1E76-A867-A1EF6A993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14" y="3422924"/>
            <a:ext cx="8866207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Формирование контекста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—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Извлекаем HTML, стили и *связную логику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—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Передаём в LLM в формате: html, css, *js (*dependencies)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EB3D23-D732-2AEC-1DA2-A5ACA4ECB17B}"/>
              </a:ext>
            </a:extLst>
          </p:cNvPr>
          <p:cNvSpPr txBox="1"/>
          <p:nvPr/>
        </p:nvSpPr>
        <p:spPr>
          <a:xfrm>
            <a:off x="485114" y="863682"/>
            <a:ext cx="6343889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Загрузка проекта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—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Поддержка URL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*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(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ZIP-архива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)</a:t>
            </a:r>
            <a:r>
              <a:rPr kumimoji="0" lang="ru-RU" altLang="ru-RU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(в опр. архитектуре)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  <p:pic>
        <p:nvPicPr>
          <p:cNvPr id="8" name="Google Shape;140;p23" title="8.png">
            <a:extLst>
              <a:ext uri="{FF2B5EF4-FFF2-40B4-BE49-F238E27FC236}">
                <a16:creationId xmlns:a16="http://schemas.microsoft.com/office/drawing/2014/main" id="{485575B0-0B9E-28D3-394C-AC66C961383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123330">
            <a:off x="3667807" y="1263659"/>
            <a:ext cx="7735109" cy="201315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263E9F-5946-43EB-9E3E-D65C7FB9229A}"/>
              </a:ext>
            </a:extLst>
          </p:cNvPr>
          <p:cNvSpPr txBox="1"/>
          <p:nvPr/>
        </p:nvSpPr>
        <p:spPr>
          <a:xfrm>
            <a:off x="485113" y="1935554"/>
            <a:ext cx="6343889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Реактивный подход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—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ru-RU" altLang="ru-RU" sz="1800" dirty="0">
                <a:solidFill>
                  <a:schemeClr val="bg1"/>
                </a:solidFill>
                <a:latin typeface="+mj-lt"/>
              </a:rPr>
              <a:t>Мгновенное отображение полученных изменений </a:t>
            </a:r>
            <a:br>
              <a:rPr lang="ru-RU" altLang="ru-RU" sz="1800" dirty="0">
                <a:solidFill>
                  <a:schemeClr val="bg1"/>
                </a:solidFill>
                <a:latin typeface="+mj-lt"/>
              </a:rPr>
            </a:br>
            <a:r>
              <a:rPr lang="ru-RU" altLang="ru-RU" sz="1800" dirty="0">
                <a:solidFill>
                  <a:schemeClr val="bg1"/>
                </a:solidFill>
                <a:latin typeface="+mj-lt"/>
              </a:rPr>
              <a:t>     на собственной платформе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/>
        </p:nvSpPr>
        <p:spPr>
          <a:xfrm>
            <a:off x="146999" y="92597"/>
            <a:ext cx="6520019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B1F516"/>
                </a:solidFill>
                <a:latin typeface="+mj-lt"/>
              </a:rPr>
              <a:t>🧠 </a:t>
            </a:r>
            <a:r>
              <a:rPr lang="en-US" sz="2400" b="1" u="sng" dirty="0">
                <a:solidFill>
                  <a:srgbClr val="B1F516"/>
                </a:solidFill>
                <a:latin typeface="+mj-lt"/>
              </a:rPr>
              <a:t>SOTA </a:t>
            </a:r>
            <a:r>
              <a:rPr kumimoji="0" lang="ru-RU" altLang="ru-RU" sz="2400" b="1" i="0" u="sng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—</a:t>
            </a:r>
            <a:r>
              <a:rPr lang="en-US" sz="2400" b="1" u="sng" dirty="0">
                <a:solidFill>
                  <a:srgbClr val="B1F516"/>
                </a:solidFill>
                <a:latin typeface="+mj-lt"/>
              </a:rPr>
              <a:t> </a:t>
            </a:r>
            <a:r>
              <a:rPr lang="ru-RU" sz="2400" b="1" u="sng" dirty="0" err="1">
                <a:solidFill>
                  <a:srgbClr val="B1F516"/>
                </a:solidFill>
                <a:latin typeface="+mj-lt"/>
              </a:rPr>
              <a:t>Инференс</a:t>
            </a:r>
            <a:r>
              <a:rPr lang="ru-RU" sz="2400" b="1" u="sng" dirty="0">
                <a:solidFill>
                  <a:srgbClr val="B1F516"/>
                </a:solidFill>
                <a:latin typeface="+mj-lt"/>
              </a:rPr>
              <a:t> с </a:t>
            </a:r>
            <a:r>
              <a:rPr lang="ru-RU" sz="2400" b="1" u="sng" dirty="0" err="1">
                <a:solidFill>
                  <a:srgbClr val="B1F516"/>
                </a:solidFill>
                <a:latin typeface="+mj-lt"/>
              </a:rPr>
              <a:t>LangGraph</a:t>
            </a:r>
            <a:r>
              <a:rPr lang="en-US" sz="2400" b="1" u="sng" dirty="0">
                <a:solidFill>
                  <a:srgbClr val="B1F516"/>
                </a:solidFill>
                <a:latin typeface="+mj-lt"/>
              </a:rPr>
              <a:t> + </a:t>
            </a:r>
            <a:r>
              <a:rPr lang="en-US" sz="2400" b="1" u="sng" dirty="0" err="1">
                <a:solidFill>
                  <a:srgbClr val="B1F516"/>
                </a:solidFill>
                <a:latin typeface="+mj-lt"/>
              </a:rPr>
              <a:t>CoT</a:t>
            </a:r>
            <a:endParaRPr sz="2400" b="1" u="sng" dirty="0">
              <a:solidFill>
                <a:srgbClr val="B1F516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212ABA-3684-D396-22E4-6E2D60773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343" y="3652735"/>
            <a:ext cx="8789586" cy="120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LangGraph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 логика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: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Используется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многошаговая схема генерации (</a:t>
            </a:r>
            <a:r>
              <a:rPr lang="en-US" altLang="ru-RU" sz="2000" b="1" dirty="0">
                <a:solidFill>
                  <a:schemeClr val="bg1"/>
                </a:solidFill>
                <a:latin typeface="+mj-lt"/>
              </a:rPr>
              <a:t>graph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)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— *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Модель уточняет, проверяет, дополняет результат через ветвления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DEC297-6AEB-E6E7-92DE-BE00815A630A}"/>
              </a:ext>
            </a:extLst>
          </p:cNvPr>
          <p:cNvSpPr txBox="1"/>
          <p:nvPr/>
        </p:nvSpPr>
        <p:spPr>
          <a:xfrm>
            <a:off x="423343" y="690992"/>
            <a:ext cx="7456990" cy="120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Инференс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 через LLM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—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Генерация правок в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структурированном JSON-формате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Пример: {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html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: ...,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css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: ...,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js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: ...,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explanation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: ...}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376FE0-85F4-62F0-5FD1-62FF0F6298FE}"/>
              </a:ext>
            </a:extLst>
          </p:cNvPr>
          <p:cNvSpPr txBox="1"/>
          <p:nvPr/>
        </p:nvSpPr>
        <p:spPr>
          <a:xfrm>
            <a:off x="423343" y="2118093"/>
            <a:ext cx="7134925" cy="120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Chain-of-Thought</a:t>
            </a:r>
            <a:r>
              <a:rPr lang="en-US" altLang="ru-RU" sz="2000" b="1" dirty="0">
                <a:solidFill>
                  <a:srgbClr val="B1F516"/>
                </a:solidFill>
                <a:latin typeface="+mj-lt"/>
              </a:rPr>
              <a:t>: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Промпты построены с пошаговой логикой — LLM объясняет каждое изменение</a:t>
            </a:r>
          </a:p>
        </p:txBody>
      </p:sp>
      <p:pic>
        <p:nvPicPr>
          <p:cNvPr id="9" name="Google Shape;142;p23" title="2.png">
            <a:extLst>
              <a:ext uri="{FF2B5EF4-FFF2-40B4-BE49-F238E27FC236}">
                <a16:creationId xmlns:a16="http://schemas.microsoft.com/office/drawing/2014/main" id="{4A477A10-9BD1-48D2-6FC1-0F99B7E6910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152597">
            <a:off x="6449200" y="1032469"/>
            <a:ext cx="4158695" cy="3078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/>
        </p:nvSpPr>
        <p:spPr>
          <a:xfrm>
            <a:off x="316300" y="43200"/>
            <a:ext cx="543631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B1F516"/>
                </a:solidFill>
              </a:rPr>
              <a:t>🧾 </a:t>
            </a:r>
            <a:r>
              <a:rPr lang="ru-RU" sz="2400" b="1" u="sng" dirty="0">
                <a:solidFill>
                  <a:srgbClr val="B1F516"/>
                </a:solidFill>
              </a:rPr>
              <a:t>Применение результата</a:t>
            </a:r>
            <a:r>
              <a:rPr lang="en-US" sz="2400" b="1" u="sng" dirty="0">
                <a:solidFill>
                  <a:srgbClr val="B1F516"/>
                </a:solidFill>
              </a:rPr>
              <a:t>:</a:t>
            </a:r>
            <a:endParaRPr sz="2400" b="1" u="sng" dirty="0">
              <a:solidFill>
                <a:srgbClr val="B1F516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9A743F-423F-7A3C-DF6C-5B7B4BC21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09" y="3618772"/>
            <a:ext cx="5466561" cy="120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Автоматическое применение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Изменения вносятся в код проекта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*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Доступна фиксация изменений через Git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75951-8733-E498-FD7B-A9CCAE5BEB4F}"/>
              </a:ext>
            </a:extLst>
          </p:cNvPr>
          <p:cNvSpPr txBox="1"/>
          <p:nvPr/>
        </p:nvSpPr>
        <p:spPr>
          <a:xfrm>
            <a:off x="544009" y="767639"/>
            <a:ext cx="6065134" cy="120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Просмотр изменений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После генерации пользователь сразу видит, как изменится выбранный элемент на странице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3C7DB4-23C5-5E81-0F51-2A5E4F34CC7C}"/>
              </a:ext>
            </a:extLst>
          </p:cNvPr>
          <p:cNvSpPr txBox="1"/>
          <p:nvPr/>
        </p:nvSpPr>
        <p:spPr>
          <a:xfrm>
            <a:off x="544009" y="1976368"/>
            <a:ext cx="7836061" cy="1593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Ручная корректировка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Можно при необходимости отредактировать сгенерированный HTML, CSS или JS до финального внесения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Arial" panose="020B0604020202020204" pitchFamily="34" charset="0"/>
              </a:rPr>
              <a:t>—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Удобно, если результат модели частично требует уточнений</a:t>
            </a:r>
          </a:p>
        </p:txBody>
      </p:sp>
      <p:pic>
        <p:nvPicPr>
          <p:cNvPr id="8" name="Google Shape;137;p23" title="3к-02 2.png">
            <a:extLst>
              <a:ext uri="{FF2B5EF4-FFF2-40B4-BE49-F238E27FC236}">
                <a16:creationId xmlns:a16="http://schemas.microsoft.com/office/drawing/2014/main" id="{81CAB7C8-A40F-D190-ADAC-F3599BDC181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6674182">
            <a:off x="7523195" y="3816659"/>
            <a:ext cx="2398225" cy="1483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36;p23" title="3к-02 3.png">
            <a:extLst>
              <a:ext uri="{FF2B5EF4-FFF2-40B4-BE49-F238E27FC236}">
                <a16:creationId xmlns:a16="http://schemas.microsoft.com/office/drawing/2014/main" id="{BBE580D5-8966-FF75-A7A9-D2E3675638F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6703119">
            <a:off x="7235655" y="804026"/>
            <a:ext cx="2288830" cy="2164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/>
        </p:nvSpPr>
        <p:spPr>
          <a:xfrm>
            <a:off x="258426" y="112649"/>
            <a:ext cx="49911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B1F516"/>
                </a:solidFill>
                <a:latin typeface="+mj-lt"/>
              </a:rPr>
              <a:t>🌟</a:t>
            </a:r>
            <a:r>
              <a:rPr lang="en-US" sz="2400" b="1" dirty="0">
                <a:solidFill>
                  <a:srgbClr val="B1F516"/>
                </a:solidFill>
                <a:latin typeface="+mj-lt"/>
              </a:rPr>
              <a:t> </a:t>
            </a:r>
            <a:r>
              <a:rPr lang="ru-RU" sz="2400" b="1" u="sng" dirty="0">
                <a:solidFill>
                  <a:srgbClr val="B1F516"/>
                </a:solidFill>
                <a:latin typeface="+mj-lt"/>
              </a:rPr>
              <a:t>Преимущества</a:t>
            </a:r>
            <a:r>
              <a:rPr lang="en-US" sz="2400" b="1" dirty="0">
                <a:solidFill>
                  <a:srgbClr val="B1F516"/>
                </a:solidFill>
                <a:latin typeface="+mj-lt"/>
              </a:rPr>
              <a:t>:</a:t>
            </a:r>
            <a:endParaRPr sz="2400" b="1" dirty="0">
              <a:solidFill>
                <a:srgbClr val="B1F516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C4E57A-1D67-8A59-67D3-FB7CB5313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395" y="826319"/>
            <a:ext cx="7523213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Работает даже без исходников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— достаточно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URL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сайта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Интерактивный выбор элементов </a:t>
            </a:r>
            <a:r>
              <a:rPr lang="ru-RU" altLang="ru-RU" sz="1800" dirty="0">
                <a:solidFill>
                  <a:schemeClr val="bg1"/>
                </a:solidFill>
                <a:latin typeface="+mj-lt"/>
              </a:rPr>
              <a:t>или их группу элементов.</a:t>
            </a:r>
            <a:br>
              <a:rPr lang="ru-RU" altLang="ru-RU" sz="1800" dirty="0">
                <a:solidFill>
                  <a:schemeClr val="bg1"/>
                </a:solidFill>
                <a:latin typeface="+mj-lt"/>
              </a:rPr>
            </a:b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Универсальные настройки парсера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—  3 вида для разных задач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Осмысленные правки с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Chain-of-Thought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B1F516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LangGraph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— для многошаговой логики и уточнений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Локальный запуск(</a:t>
            </a:r>
            <a:r>
              <a:rPr kumimoji="0" lang="en-US" altLang="ru-RU" sz="1800" b="1" i="0" u="none" strike="noStrike" cap="none" normalizeH="0" baseline="0" dirty="0" err="1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noAPI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)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— можно использовать без интернета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Docker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B1F516"/>
                </a:solidFill>
                <a:effectLst/>
                <a:latin typeface="+mj-lt"/>
              </a:rPr>
              <a:t>-окружение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— запуск в один клик </a:t>
            </a:r>
            <a:r>
              <a:rPr kumimoji="0" lang="ru-RU" altLang="ru-RU" sz="1800" b="0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(</a:t>
            </a:r>
            <a:r>
              <a:rPr kumimoji="0" lang="ru-RU" altLang="ru-RU" sz="1800" b="0" i="1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docker</a:t>
            </a:r>
            <a:r>
              <a:rPr kumimoji="0" lang="ru-RU" altLang="ru-RU" sz="1800" b="0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kumimoji="0" lang="ru-RU" altLang="ru-RU" sz="1800" b="0" i="1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compose</a:t>
            </a:r>
            <a:r>
              <a:rPr kumimoji="0" lang="ru-RU" altLang="ru-RU" sz="1800" b="0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kumimoji="0" lang="ru-RU" altLang="ru-RU" sz="1800" b="0" i="1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up</a:t>
            </a:r>
            <a:r>
              <a:rPr kumimoji="0" lang="ru-RU" altLang="ru-RU" sz="1800" b="0" i="1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)</a:t>
            </a:r>
          </a:p>
        </p:txBody>
      </p:sp>
      <p:pic>
        <p:nvPicPr>
          <p:cNvPr id="3" name="Google Shape;139;p23" title="Галочка.png">
            <a:extLst>
              <a:ext uri="{FF2B5EF4-FFF2-40B4-BE49-F238E27FC236}">
                <a16:creationId xmlns:a16="http://schemas.microsoft.com/office/drawing/2014/main" id="{836432D3-F9BE-4705-9641-40DFD43949F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969" y="1134689"/>
            <a:ext cx="258426" cy="191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9;p23" title="Галочка.png">
            <a:extLst>
              <a:ext uri="{FF2B5EF4-FFF2-40B4-BE49-F238E27FC236}">
                <a16:creationId xmlns:a16="http://schemas.microsoft.com/office/drawing/2014/main" id="{C9761667-E580-1D16-DA54-D63A512D5F5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969" y="1698304"/>
            <a:ext cx="258426" cy="191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9;p23" title="Галочка.png">
            <a:extLst>
              <a:ext uri="{FF2B5EF4-FFF2-40B4-BE49-F238E27FC236}">
                <a16:creationId xmlns:a16="http://schemas.microsoft.com/office/drawing/2014/main" id="{B90CBA76-2437-9AFC-5D7B-80E6D6E8CE6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969" y="2241487"/>
            <a:ext cx="258426" cy="191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9;p23" title="Галочка.png">
            <a:extLst>
              <a:ext uri="{FF2B5EF4-FFF2-40B4-BE49-F238E27FC236}">
                <a16:creationId xmlns:a16="http://schemas.microsoft.com/office/drawing/2014/main" id="{400AA048-8F5B-1752-1A62-64EA7E470E4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969" y="2768518"/>
            <a:ext cx="258426" cy="191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;p23" title="Галочка.png">
            <a:extLst>
              <a:ext uri="{FF2B5EF4-FFF2-40B4-BE49-F238E27FC236}">
                <a16:creationId xmlns:a16="http://schemas.microsoft.com/office/drawing/2014/main" id="{D7ADBA63-E1E9-F368-F24A-4623D7E69D7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969" y="3333887"/>
            <a:ext cx="258426" cy="191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39;p23" title="Галочка.png">
            <a:extLst>
              <a:ext uri="{FF2B5EF4-FFF2-40B4-BE49-F238E27FC236}">
                <a16:creationId xmlns:a16="http://schemas.microsoft.com/office/drawing/2014/main" id="{D9759774-D512-8BFB-BD04-A9E09506B37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969" y="3913267"/>
            <a:ext cx="258426" cy="191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39;p23" title="Галочка.png">
            <a:extLst>
              <a:ext uri="{FF2B5EF4-FFF2-40B4-BE49-F238E27FC236}">
                <a16:creationId xmlns:a16="http://schemas.microsoft.com/office/drawing/2014/main" id="{47310166-56CD-E5DE-A692-F718142B458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969" y="4397103"/>
            <a:ext cx="258426" cy="191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37;p23" title="3к-02 2.png">
            <a:extLst>
              <a:ext uri="{FF2B5EF4-FFF2-40B4-BE49-F238E27FC236}">
                <a16:creationId xmlns:a16="http://schemas.microsoft.com/office/drawing/2014/main" id="{F435DF64-D9C5-277F-DB32-3E87FDA5BFB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23993" y="3967055"/>
            <a:ext cx="2037364" cy="1419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3312DD3-F593-BC1D-D850-19FEE3FF7F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6583" y="2365131"/>
            <a:ext cx="2202902" cy="15481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552</Words>
  <Application>Microsoft Office PowerPoint</Application>
  <PresentationFormat>On-screen Show (16:9)</PresentationFormat>
  <Paragraphs>57</Paragraphs>
  <Slides>11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Manrope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Gog Lok</dc:creator>
  <cp:lastModifiedBy>Николя Моби</cp:lastModifiedBy>
  <cp:revision>79</cp:revision>
  <dcterms:modified xsi:type="dcterms:W3CDTF">2025-04-29T09:12:40Z</dcterms:modified>
</cp:coreProperties>
</file>